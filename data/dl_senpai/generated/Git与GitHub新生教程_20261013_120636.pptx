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同学们好，欢迎来到新生实践课的第一讲。我知道很多同学第一次听到 Git、GitHub 这些词的时候是懵的，觉得这是程序员才用的高级工具。但今天这节课结束，你们每个人都能独立建仓库、提交代码、推送到 GitHub，甚至发出人生第一个 Pull Request。我们从一个大家都熟悉的场景开始——你们作业文件夹里是不是躺着一堆「作业_最终版_真最终版_打死不改版.zip」？这节课就是来解决这个问题的。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内容分为五个部分。第一部分我们先搞清楚为什么需要版本控制，从大家都熟悉的作业文件命名混乱开始。第二部分用类比讲透四个核心概念，不用记术语。第三部分是实操，只讲日常真的用得到的命令，不搞那些花里胡哨的进阶内容。第四部分专门讲分支和冲突，很多同学一听到冲突就慌，其实这是再正常不过的事情。第五部分是重头戏，用 GitHub 完成完整的协作流程，最后发第一个 Pull Request。最后还有避坑清单和总结。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看左边这个文件夹，是不是很熟悉？作业1、作业1改、作业1最终版、真最终版、打死不改版……相信每个人电脑里都有这么一个文件夹。这就是没有版本控制的日常。版本控制到底解决什么问题呢？三个：第一，历史可回溯，你改坏了随时能退回来，不用怕删错东西；第二，多人协作不互相覆盖，以后小组作业大家一起写代码，不用再传来传去；第三，改动可审查，谁改了什么、什么时候改的，清清楚楚。一句话总结：版本控制就是代码的后悔药加上协作规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好，现在讲一个最容易搞混的点：Git 和 GitHub 是不是一回事？答案是不是。Git 是装在你自己电脑上的一个软件，是一个命令行工具，离线也能用，它管的是你本地的代码历史。GitHub 呢，是一个网站，是托管代码的在线平台，你用浏览器打开就能用。打个比方：Git 就像你手机里的相册管理 App，你本地整理照片全靠它；GitHub 就像一个共享相册网站，你把整理好的照片传上去，大家都能看到、能一起编辑。两者是配合使用的关系，但完全不是同一个东西。这个概念一定要搞清楚，后面所有内容都建立在这个区分上。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好，现在用四个词把 Git 的核心概念讲透。第一个是仓库，Repository，你可以理解成一个项目的专属文件夹，里面存着你的所有代码和每一次改动的历史。第二个是提交，Commit，这个最重要——提交不是把整个文件复制一份，而是给当前的代码状态拍一张快照，Git 只记录这次改了哪里，不存整个文件，所以非常省空间。第三个是分支，Branch，很多人以为分支是复制整个文件夹，错了！分支只是一根指向某个提交的指针，就这么简单。所以创建分支几乎零成本，你想建多少建多少，不用担心占空间。第四个是远程，Remote，就是你 GitHub 上那个在线仓库。记住：本地仓库和远程仓库是两个独立的东西，你改完本地代码不会自动同步到 GitHub，得主动 push 上去才行。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开始实操。第一步，先做一次性配置。打开终端，输入这两行命令，把你的名字和邮箱配上，以后每一次提交都会记录是谁做的。这个只需要配一次，以后就不用管了。配好之后，你有两种方式开始一个仓库。第一种叫 git init，就是在你已有的文件夹里初始化一个新仓库，相当于平地起楼，适合你从零开始做一个新项目。第二种叫 git clone，就是把 GitHub 上已经有的整个仓库下载到你电脑上，相当于拎包入住，适合你想参与别人的开源项目，或者把老师的作业模板拉下来。记住这个区别：init 是平地起楼，clone 是拎包入住。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好，现在讲日常用得最多的命令，其实就这五个，覆盖你 90% 的场景。整个流程是一个循环：你改完代码之后，先跑 git status，看看你改了哪些文件，心里有个数。然后用 git add 把你想提交的改动选进来，相当于把要拍照的东西摆好位置。接着 git commit 正式存档，写清楚这次提交做了什么。最后想看历史了就跑 git log。注意看下面的例子，git commit 后面跟 -m，然后引号里写清楚这次做了什么。千万别只写 update 两个字，以后你自己都记不起来改了啥。这个循环就是你以后每天都要重复很多次的操作：改代码 → status 检查 → add → commit → 再改 → 再提交。就这么简单。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好，现在讲分支和冲突。左边这个图就是分支的意思：main 是主分支，永远保持能用。你要做新功能了，就从 main 开一个新分支出来，比如 feature/login，在上面随便改，改坏了也不影响 main。改好了再合并回去。那冲突是怎么来的呢？很简单：两个人改了同一个文件的同一行，Git 不知道该听谁的，就停下来问你。大家看下面这个例子，就是冲突标记长这样：上面是当前分支的内容，中间是分割线，下面是另一个分支的内容。解决也很简单，三步：打开文件，看看两边分别写了啥，跟改这个文件的同学商量好留哪个，然后把那些冲突标记删掉，保存，再提交一下就好了。记住：冲突不是你做错了什么，这是协作过程中再正常不过的事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好，现在讲怎么把本地仓库推到 GitHub 上。三步：第一步，先在 GitHub 网站上建一个空仓库，点右上角的加号，选 New repository，起个名字就行，别的都不用选。第二步，回到你本地的项目文件夹，用 git remote add origin 加上远程仓库的地址，把本地仓库和 GitHub 上那个关联起来。第三步，用 git push 把你本地的提交都推上去。以后你改了代码，提交完之后跑一下 push，就同步到 GitHub 了。反过来，别人改了仓库里的东西，你用 git pull 就能把最新的代码拉到你本地。一句话记住：push 是上传，pull 是下载。就像你用百度云盘，上传和下载的区别。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好，现在讲完整的协作流程，这也是今天的重头戏。如果你想给一个别人的开源项目贡献代码，流程是这样的：第一步，Fork，就是把别人的仓库复制一份到你自己的 GitHub 账号下。第二步，Clone，把你 Fork 的这个仓库下载到你本地电脑。第三步，开个新分支，改代码，写完了提交。第四步，把你改完的代码 push 到你自己的 Fork 仓库里。第五步，发 Pull Request，就是跟原项目的维护者说：我改了点东西，你看看行不行，行的话就合并进来吧。对方会在网页上看你的改动、提意见，讨论好了点 Merge，你的代码就正式进项目了。顺便说一下 Issue，就是项目的问题反馈区，发现 bug、提建议都可以开个 Issue。这就是整个开源协作的完整链路。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最后是新手避坑清单，这几个坑学长们都替你踩过了。第一，最重要的：不要把密码、密钥传到 GitHub 上。GitHub 公开仓库谁都能看，你传个数据库密码上去，等于全世界都知道了。第二，记得写 .gitignore，编译产物、临时文件这些不该进仓库的东西，都在这个文件里列出来。第三，commit message 别写 update 两个字，写清楚这次改了什么，以后你自己看历史的时候会感谢现在的自己。第四，也是最重要的：出错了别慌。Git 里大部分操作都能找回来，删错文件、提交错了，都有办法恢复。遇到报错怎么办？把报错信息复制到 Google 搜一下，99% 的情况前人都踩过坑，照着答案改就行。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好，最后总结一下，今天记住这四句话就够了。第一，Git 是装在你电脑上的工具，GitHub 是托管代码的网站，它俩不是一回事，这个最基本的区分一定要搞清楚。第二，提交是快照，分支是指针，都是很轻量的东西，别舍不得用分支，想开多少开多少。第三，日常你就用这五个命令：status、add、commit、push、pull，覆盖你 90% 的场景了，那些 rebase、stash 什么的以后需要了再学。第四，也是最重要的：出错别慌，Git 里大部分操作都能找回来，遇到报错就复制到搜索引擎搜一下，前人早就踩过坑了。好了，现在就去注册一个 GitHub 账号，建你的第一个仓库吧。你的开源之旅，从今天开始。谢谢大家。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4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3B4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AF2F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计算机专业新生实践课 · 第一讲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794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从「作业_最终版.zip」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到你的第一个 Pull Request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4699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Git 与 GitHub 新生入门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1016026" y="5454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5715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AF2F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听完这节课，你就能独立完成一次完整的代码协作流程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 · 目录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4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今天我们要走完这五步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15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540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05000" y="2540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为什么需要版本控制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2921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从「作业最终版」的痛点说起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68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905000" y="3683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四个核心概念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5000" y="4064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仓库、提交、分支、远程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826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905000" y="4826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本地实操最小命令集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905000" y="5207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日常 90% 场景用得到的命令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604000" y="2540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493000" y="2540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分支与冲突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493000" y="2921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冲突不是事故，是正常现象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04000" y="368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493000" y="3683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用 GitHub 协作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493000" y="4064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从建仓库到发出第一个 PR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4826000"/>
            <a:ext cx="4572000" cy="1016000"/>
          </a:xfrm>
          <a:prstGeom prst="roundRect">
            <a:avLst>
              <a:gd name="adj" fmla="val 10000"/>
            </a:avLst>
          </a:prstGeom>
          <a:solidFill>
            <a:srgbClr val="0EA5A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858000" y="5016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额外彩蛋：</a:t>
            </a:r>
            <a:r>
              <a:rPr lang="en-US" b="fals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新手避坑清单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四条要记住的结论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01 · 为什么需要版本控制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你的作业文件夹，是不是也长这样？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4318000" cy="4064000"/>
          </a:xfrm>
          <a:prstGeom prst="roundRect">
            <a:avLst>
              <a:gd name="adj" fmla="val 2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270000" y="2286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📁 我的操作系统作业/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524000" y="273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作业1.docx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24000" y="3111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作业1_改.docx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349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作业1_最终版.docx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524000" y="3873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作业1_最终版2.docx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524000" y="425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作业1_真最终版.docx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524000" y="4635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作业1_打死不改版.docx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524000" y="5016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作业1_最后最后真的最后版.docx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270000" y="552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这就是没有版本控制的日常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096000" y="2032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版本控制解决三个问题：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096000" y="2667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04000" y="2667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历史可回溯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04000" y="3048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随时回到任何一个历史版本，改坏了一键撤销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096000" y="37465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604000" y="3746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多人协作不互相覆盖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04000" y="4127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大家同时改同一个文件，也能知道谁改了什么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096000" y="4826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604000" y="4826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改动可审查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604000" y="5207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每一次改动都有记录，谁、什么时候、改了哪里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0" y="5778500"/>
            <a:ext cx="5080000" cy="508000"/>
          </a:xfrm>
          <a:prstGeom prst="roundRect">
            <a:avLst>
              <a:gd name="adj" fmla="val 50000"/>
            </a:avLst>
          </a:prstGeom>
          <a:solidFill>
            <a:srgbClr val="0EA5A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6350000" y="5867400"/>
            <a:ext cx="457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一句话：</a:t>
            </a:r>
            <a:r>
              <a:rPr lang="en-US" b="fals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 = 代码的「后悔药」+「协作规则」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01 · 为什么需要版本控制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Git 和 GitHub，到底是不是一回事？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651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这是新生最常见的误解——它俩名字像，但完全不是一个东西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4572000" cy="3556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572000" cy="635000"/>
          </a:xfrm>
          <a:prstGeom prst="roundRect">
            <a:avLst>
              <a:gd name="adj" fmla="val 16000"/>
            </a:avLst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270000" y="2413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Git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270000" y="317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装在你电脑上的工具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270000" y="361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本地版本控制软件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270000" y="4000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用命令行操作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270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离线也能用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270000" y="4762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管你本地的代码历史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270000" y="5270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3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类比：你手机里的相册管理 App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651500" y="3810000"/>
            <a:ext cx="889000" cy="889000"/>
          </a:xfrm>
          <a:prstGeom prst="ellipse">
            <a:avLst/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651500" y="40005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286000"/>
            <a:ext cx="4572000" cy="3556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2286000"/>
            <a:ext cx="4572000" cy="635000"/>
          </a:xfrm>
          <a:prstGeom prst="roundRect">
            <a:avLst>
              <a:gd name="adj" fmla="val 16000"/>
            </a:avLst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858000" y="2413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GitHub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858000" y="317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网上托管代码的网站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858000" y="361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在线代码托管平台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858000" y="4000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用网页浏览器操作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858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需要联网才能用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858000" y="4762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存代码 + 多人协作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6858000" y="5270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3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类比：百度云盘 / 照片共享相册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016000" y="61595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关系：</a:t>
            </a:r>
            <a:r>
              <a:rPr lang="en-US" b="fals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Git 是你手里的工具，GitHub 是你把工具做好的东西上传上去的地方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就像你用 Word 写作业，然后传到班级群里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核心概念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四个词，搞懂 Git 到底在干嘛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270000" y="2159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仓库 Repository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603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一个项目的「专属文件夹」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270000" y="3048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里面存着你的所有代码 + 每一次改动的历史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一个仓库 = 一个完整的项目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9685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EA5A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604000" y="2159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提交 Commit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604000" y="2603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给当前状态拍一张「快照」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604000" y="3048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关键认知：提交是一张改动快照，不是文件副本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Git 只存「这次改了哪里」，不存整个文件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1275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EA5A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270000" y="4318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分支 Branch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270000" y="4762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平行宇宙里的另一条时间线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270000" y="5207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关键认知：分支只是一根指向提交的指针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所以创建分支几乎零成本，想建多少建多少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41275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04000" y="4318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远程 Remote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604000" y="4762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你 GitHub 上那个在线仓库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604000" y="5207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本地仓库和远程仓库是两个独立的东西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你得主动 push / pull 才能同步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本地实操最小命令集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第一步：把仓库建起来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968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第一次用，先做一次性配置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76500"/>
            <a:ext cx="4826000" cy="1524000"/>
          </a:xfrm>
          <a:prstGeom prst="roundRect">
            <a:avLst>
              <a:gd name="adj" fmla="val 5000"/>
            </a:avLst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667000"/>
            <a:ext cx="431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EAF2F8"/>
                </a:solidFill>
                <a:latin typeface="Roboto Mono"/>
                <a:ea typeface="Roboto Mono"/>
                <a:cs typeface="Roboto Mono"/>
                <a:sym typeface="Roboto Mono"/>
              </a:rPr>
              <a:t># 告诉 Git 你是谁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EAF2F8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--global user.name "你的名字"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EAF2F8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--global user.email "你的邮箱"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2545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为什么要配？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每一次提交都会记录是谁做的，配一次以后就不用再管了。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1968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两种建仓库的方式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24765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git init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3500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在你已有的文件夹里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「初始化」一个新仓库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3492500"/>
            <a:ext cx="2286000" cy="444500"/>
          </a:xfrm>
          <a:prstGeom prst="roundRect">
            <a:avLst>
              <a:gd name="adj" fmla="val 11428"/>
            </a:avLst>
          </a:prstGeom>
          <a:solidFill>
            <a:srgbClr val="0EA5A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477000" y="3581400"/>
            <a:ext cx="203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从零开始做新项目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890000" y="24765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git clone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8900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 GitHub 上已有的仓库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整个下载到你电脑上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0" y="3492500"/>
            <a:ext cx="2286000" cy="444500"/>
          </a:xfrm>
          <a:prstGeom prst="roundRect">
            <a:avLst>
              <a:gd name="adj" fmla="val 11428"/>
            </a:avLst>
          </a:prstGeom>
          <a:solidFill>
            <a:srgbClr val="0EA5A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9017000" y="3581400"/>
            <a:ext cx="203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参与别人的开源项目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42545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604000" y="4419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EAF2F8"/>
                </a:solidFill>
                <a:latin typeface="Roboto Mono"/>
                <a:ea typeface="Roboto Mono"/>
                <a:cs typeface="Roboto Mono"/>
                <a:sym typeface="Roboto Mono"/>
              </a:rPr>
              <a:t>git clone https://github.com/xxx/xxx.git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350000" y="5207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区别一句话：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init 是「平地起楼」，clone 是「拎包入住」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本地实操最小命令集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日常 90% 的时间，你只用这 5 个命令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206500" y="2349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3B4F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06500" y="2730500"/>
            <a:ext cx="152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看看改了哪些文件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心里有个数</a:t>
            </a:r>
          </a:p>
        </p:txBody>
      </p:sp>
      <p:cxnSp>
        <p:nvCxnSpPr>
          <p:cNvPr name="Connector 7" id="7"/>
          <p:cNvCxnSpPr/>
          <p:nvPr/>
        </p:nvCxnSpPr>
        <p:spPr>
          <a:xfrm rot="-114549" flipH="false" flipV="false">
            <a:off x="2984606" y="2787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429000" y="2159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619500" y="2349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3B4F"/>
                </a:solidFill>
                <a:latin typeface="Roboto Mono"/>
                <a:ea typeface="Roboto Mono"/>
                <a:cs typeface="Roboto Mono"/>
                <a:sym typeface="Roboto Mono"/>
              </a:rPr>
              <a:t>git add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619500" y="2730500"/>
            <a:ext cx="152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把改动「选进来」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准备提交</a:t>
            </a:r>
          </a:p>
        </p:txBody>
      </p:sp>
      <p:cxnSp>
        <p:nvCxnSpPr>
          <p:cNvPr name="Connector 11" id="11"/>
          <p:cNvCxnSpPr/>
          <p:nvPr/>
        </p:nvCxnSpPr>
        <p:spPr>
          <a:xfrm rot="-114549" flipH="false" flipV="false">
            <a:off x="5397606" y="2787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842000" y="2159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032500" y="2349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032500" y="2730500"/>
            <a:ext cx="152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EAF2F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正式「拍照存档」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EAF2F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生成一次提交</a:t>
            </a:r>
          </a:p>
        </p:txBody>
      </p:sp>
      <p:cxnSp>
        <p:nvCxnSpPr>
          <p:cNvPr name="Connector 15" id="15"/>
          <p:cNvCxnSpPr/>
          <p:nvPr/>
        </p:nvCxnSpPr>
        <p:spPr>
          <a:xfrm rot="-114549" flipH="false" flipV="false">
            <a:off x="7810606" y="2787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255000" y="2159000"/>
            <a:ext cx="1905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445500" y="2349500"/>
            <a:ext cx="152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3B4F"/>
                </a:solidFill>
                <a:latin typeface="Roboto Mono"/>
                <a:ea typeface="Roboto Mono"/>
                <a:cs typeface="Roboto Mono"/>
                <a:sym typeface="Roboto Mono"/>
              </a:rPr>
              <a:t>git log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445500" y="2730500"/>
            <a:ext cx="1524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看看历史记录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谁改了什么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3937000"/>
            <a:ext cx="10160000" cy="1270000"/>
          </a:xfrm>
          <a:prstGeom prst="roundRect">
            <a:avLst>
              <a:gd name="adj" fmla="val 6000"/>
            </a:avLst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270000" y="4127500"/>
            <a:ext cx="965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EAF2F8"/>
                </a:solidFill>
                <a:latin typeface="Roboto Mono"/>
                <a:ea typeface="Roboto Mono"/>
                <a:cs typeface="Roboto Mono"/>
                <a:sym typeface="Roboto Mono"/>
              </a:rPr>
              <a:t>$ git add main.py # 把 main.py 加入暂存区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EAF2F8"/>
                </a:solidFill>
                <a:latin typeface="Roboto Mono"/>
                <a:ea typeface="Roboto Mono"/>
                <a:cs typeface="Roboto Mono"/>
                <a:sym typeface="Roboto Mono"/>
              </a:rPr>
              <a:t>$ git commit -m "完成首页布局" # 提交，写清楚这次做了什么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16000" y="552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status 是你的「安全检查」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4445000" y="552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add 是「把要拍的东西摆好」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874000" y="552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commit message 别写「update」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016000" y="5905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记住这个循环：改代码 → status 检查 → add 选入 → commit 存档 → 重复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分支与冲突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冲突不是事故，是协作的正常现象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什么时候该开分支？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1459" flipH="false" flipV="false">
            <a:off x="1270011" y="2533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3B4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206500" y="2476500"/>
            <a:ext cx="127000" cy="127000"/>
          </a:xfrm>
          <a:prstGeom prst="ellipse">
            <a:avLst/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540000" y="2476500"/>
            <a:ext cx="127000" cy="127000"/>
          </a:xfrm>
          <a:prstGeom prst="ellipse">
            <a:avLst/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16500" y="2476500"/>
            <a:ext cx="127000" cy="127000"/>
          </a:xfrm>
          <a:prstGeom prst="ellipse">
            <a:avLst/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826000" y="2222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main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2153929" flipH="false" flipV="false">
            <a:off x="2457445" y="2978166"/>
            <a:ext cx="149865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1" id="11"/>
          <p:cNvCxnSpPr/>
          <p:nvPr/>
        </p:nvCxnSpPr>
        <p:spPr>
          <a:xfrm rot="-36185" flipH="false" flipV="false">
            <a:off x="3810033" y="3422650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3746500" y="3365500"/>
            <a:ext cx="127000" cy="127000"/>
          </a:xfrm>
          <a:prstGeom prst="ellipse">
            <a:avLst/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16500" y="3365500"/>
            <a:ext cx="127000" cy="127000"/>
          </a:xfrm>
          <a:prstGeom prst="ellipse">
            <a:avLst/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445000" y="3619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feature/login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4191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main 分支永远保持能用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做新功能、改 bug 都开个新分支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做完了再合并回 main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这样 main 上永远是能跑的版本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350000" y="190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冲突是怎么出现的？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350000" y="2413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两个人改了同一个文件的同一行，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Git 不知道该听谁的，就停下来问你。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D9770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540500" y="3429000"/>
            <a:ext cx="444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78350F"/>
                </a:solidFill>
                <a:latin typeface="Roboto Mono"/>
                <a:ea typeface="Roboto Mono"/>
                <a:cs typeface="Roboto Mono"/>
                <a:sym typeface="Roboto Mono"/>
              </a:rPr>
              <a:t>&lt;&lt;&lt;&lt;&lt;&lt;&lt; HEAD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8350F"/>
                </a:solidFill>
                <a:latin typeface="Roboto Mono"/>
                <a:ea typeface="Roboto Mono"/>
                <a:cs typeface="Roboto Mono"/>
                <a:sym typeface="Roboto Mono"/>
              </a:rPr>
              <a:t>标题：我的作业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8350F"/>
                </a:solidFill>
                <a:latin typeface="Roboto Mono"/>
                <a:ea typeface="Roboto Mono"/>
                <a:cs typeface="Roboto Mono"/>
                <a:sym typeface="Roboto Mono"/>
              </a:rPr>
              <a:t>=======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8350F"/>
                </a:solidFill>
                <a:latin typeface="Roboto Mono"/>
                <a:ea typeface="Roboto Mono"/>
                <a:cs typeface="Roboto Mono"/>
                <a:sym typeface="Roboto Mono"/>
              </a:rPr>
              <a:t>标题：操作系统实验报告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8350F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&gt;&gt;&gt;&gt;&gt;&gt;&gt; feature/title</a:t>
            </a: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350000" y="4826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怎么解决？三步：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350000" y="5207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1. 打开文件，看冲突标记中间的内容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350000" y="552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2. 跟改这个文件的同学商量好，留哪个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350000" y="5842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3. 删掉标记，保存，再 commit 一下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05 · 用 GitHub 协作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把本地仓库推到 GitHub 上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095500"/>
            <a:ext cx="508000" cy="508000"/>
          </a:xfrm>
          <a:prstGeom prst="ellipse">
            <a:avLst/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270000" y="2197100"/>
            <a:ext cx="50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032000" y="2095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在 GitHub 上建一个空仓库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032000" y="2476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点右上角 + 号 → New repository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285450" flipH="false" flipV="false">
            <a:off x="2984500" y="3295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270000" y="3556000"/>
            <a:ext cx="508000" cy="508000"/>
          </a:xfrm>
          <a:prstGeom prst="ellipse">
            <a:avLst/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270000" y="3657600"/>
            <a:ext cx="50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032000" y="3556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把本地仓库和远程仓库关联起来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32000" y="4000500"/>
            <a:ext cx="4064000" cy="635000"/>
          </a:xfrm>
          <a:prstGeom prst="roundRect">
            <a:avLst>
              <a:gd name="adj" fmla="val 12000"/>
            </a:avLst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222500" y="4127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AF2F8"/>
                </a:solidFill>
                <a:latin typeface="Roboto Mono"/>
                <a:ea typeface="Roboto Mono"/>
                <a:cs typeface="Roboto Mono"/>
                <a:sym typeface="Roboto Mono"/>
              </a:rPr>
              <a:t>git remote add origin 远程仓库地址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285450" flipH="false" flipV="false">
            <a:off x="2984500" y="5073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270000" y="5334000"/>
            <a:ext cx="508000" cy="508000"/>
          </a:xfrm>
          <a:prstGeom prst="ellipse">
            <a:avLst/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270000" y="5435600"/>
            <a:ext cx="50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2032000" y="5334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把本地的提交推上去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58000" y="2095500"/>
            <a:ext cx="4318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112000" y="2286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git push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112000" y="2730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把你本地的提交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「上传」到 GitHub 远程仓库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58000" y="4064000"/>
            <a:ext cx="4318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112000" y="425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git pull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112000" y="4699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 GitHub 上别人的改动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「下载」同步到你本地</a:t>
            </a:r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6858000" y="5905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2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记住：push 是上传，pull 是下载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05 · 用 GitHub 协作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完整协作流程：从 Fork 到 Pull Request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159000"/>
            <a:ext cx="1651000" cy="1016000"/>
          </a:xfrm>
          <a:prstGeom prst="roundRect">
            <a:avLst>
              <a:gd name="adj" fmla="val 10000"/>
            </a:avLst>
          </a:prstGeom>
          <a:solidFill>
            <a:srgbClr val="0D3B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889000" y="23495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Fork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89000" y="2730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EAF2F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把别人的仓库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EAF2F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复制一份到你账号下</a:t>
            </a:r>
          </a:p>
        </p:txBody>
      </p:sp>
      <p:cxnSp>
        <p:nvCxnSpPr>
          <p:cNvPr name="Connector 7" id="7"/>
          <p:cNvCxnSpPr/>
          <p:nvPr/>
        </p:nvCxnSpPr>
        <p:spPr>
          <a:xfrm rot="-137436" flipH="false" flipV="false">
            <a:off x="2476627" y="2660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857500" y="2159000"/>
            <a:ext cx="1651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984500" y="23495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2. Clone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984500" y="2730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把你 Fork 的仓库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下载到本地电脑</a:t>
            </a:r>
          </a:p>
        </p:txBody>
      </p:sp>
      <p:cxnSp>
        <p:nvCxnSpPr>
          <p:cNvPr name="Connector 11" id="11"/>
          <p:cNvCxnSpPr/>
          <p:nvPr/>
        </p:nvCxnSpPr>
        <p:spPr>
          <a:xfrm rot="-137436" flipH="false" flipV="false">
            <a:off x="4572127" y="2660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953000" y="2159000"/>
            <a:ext cx="1651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080000" y="23495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3. 改代码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080000" y="2730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开个新分支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写完提交</a:t>
            </a:r>
          </a:p>
        </p:txBody>
      </p:sp>
      <p:cxnSp>
        <p:nvCxnSpPr>
          <p:cNvPr name="Connector 15" id="15"/>
          <p:cNvCxnSpPr/>
          <p:nvPr/>
        </p:nvCxnSpPr>
        <p:spPr>
          <a:xfrm rot="-137436" flipH="false" flipV="false">
            <a:off x="6667627" y="2660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048500" y="2159000"/>
            <a:ext cx="1651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175500" y="23495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4. Push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175500" y="2730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推到你自己的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Fork 仓库里</a:t>
            </a:r>
          </a:p>
        </p:txBody>
      </p:sp>
      <p:cxnSp>
        <p:nvCxnSpPr>
          <p:cNvPr name="Connector 19" id="19"/>
          <p:cNvCxnSpPr/>
          <p:nvPr/>
        </p:nvCxnSpPr>
        <p:spPr>
          <a:xfrm rot="-137436" flipH="false" flipV="false">
            <a:off x="8763127" y="2660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A5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9144000" y="2159000"/>
            <a:ext cx="1651000" cy="1016000"/>
          </a:xfrm>
          <a:prstGeom prst="roundRect">
            <a:avLst>
              <a:gd name="adj" fmla="val 10000"/>
            </a:avLst>
          </a:prstGeom>
          <a:solidFill>
            <a:srgbClr val="0EA5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271000" y="2349500"/>
            <a:ext cx="139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发 PR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271000" y="2730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EAF2F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向原仓库发起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EAF2F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Pull Request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3683000"/>
            <a:ext cx="635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270000" y="3873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Pull Request 是什么？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270000" y="4318000"/>
            <a:ext cx="584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就是你跟项目维护者说：「我改了点东西，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你看看行不行，行的话就合并进来吧。」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对方会在网页上看你的改动、提意见、讨论，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最后点 Merge，你的代码就正式进项目了。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747000" y="3683000"/>
            <a:ext cx="3429000" cy="2286000"/>
          </a:xfrm>
          <a:prstGeom prst="roundRect">
            <a:avLst>
              <a:gd name="adj" fmla="val 4444"/>
            </a:avLst>
          </a:prstGeom>
          <a:solidFill>
            <a:srgbClr val="0EA5A7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001000" y="3873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顺便说 Issue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8001000" y="4318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就是项目的「问题反馈区」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发现 bug、提建议、问问题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都可以开一个 Issue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开源项目协作的入口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0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新手避坑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这几个坑，学长们都替你踩过了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4826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262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270000" y="2222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不要把密码、密钥传上去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667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是公开的（公开仓库谁都能看）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数据库密码、API Key、私钥一旦传上去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等于全世界都知道了，赶紧改密码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032000"/>
            <a:ext cx="4826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604000" y="2222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记得写 .gitignore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604000" y="2667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编译产物、临时文件、IDE 配置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都不该进仓库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在项目根目录建个 .gitignore 文件列出来就行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064000"/>
            <a:ext cx="4826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3B4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270000" y="4254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3B4F"/>
                </a:solidFill>
                <a:latin typeface="Noto Sans SC"/>
                <a:ea typeface="Noto Sans SC"/>
                <a:cs typeface="Noto Sans SC"/>
                <a:sym typeface="Noto Sans SC"/>
              </a:rPr>
              <a:t>commit message 别写「update」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270000" y="4699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写清楚这次改了什么：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「修复登录页按钮点击没反应的 bug」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比「update」有用一百倍，以后你会感谢自己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4064000"/>
            <a:ext cx="4826000" cy="1778000"/>
          </a:xfrm>
          <a:prstGeom prst="roundRect">
            <a:avLst>
              <a:gd name="adj" fmla="val 5714"/>
            </a:avLst>
          </a:prstGeom>
          <a:solidFill>
            <a:srgbClr val="0EA5A7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604000" y="4254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出错了别慌，Git 有后悔药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604000" y="4699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删错文件、提交错了、合并错了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大部分操作都能找回来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别慌，先停下来搜一下报错信息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" y="6159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遇到报错怎么办？把报错信息复制到 Google / 百度搜一下，99% 的情况前人都踩过坑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4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 · 四条要记住的结论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7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今天记住这四句话就够了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540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302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Git 是工具</a:t>
            </a: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是网站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它俩不是一回事</a:t>
            </a:r>
          </a:p>
        </p:txBody>
      </p:sp>
      <p:cxnSp>
        <p:nvCxnSpPr>
          <p:cNvPr name="Connector 6" id="6"/>
          <p:cNvCxnSpPr/>
          <p:nvPr/>
        </p:nvCxnSpPr>
        <p:spPr>
          <a:xfrm rot="5373556" flipH="false" flipV="false">
            <a:off x="2730500" y="34861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AF2F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3937000" y="2540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3937000" y="3302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提交是快照</a:t>
            </a: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分支是指针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都很轻量，别舍不得用</a:t>
            </a:r>
          </a:p>
        </p:txBody>
      </p:sp>
      <p:cxnSp>
        <p:nvCxnSpPr>
          <p:cNvPr name="Connector 9" id="9"/>
          <p:cNvCxnSpPr/>
          <p:nvPr/>
        </p:nvCxnSpPr>
        <p:spPr>
          <a:xfrm rot="5373556" flipH="false" flipV="false">
            <a:off x="5651500" y="34861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AF2F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858000" y="2540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858000" y="3302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日常就五个命令</a:t>
            </a: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status / add / commit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push / pull，够用了</a:t>
            </a:r>
          </a:p>
        </p:txBody>
      </p:sp>
      <p:cxnSp>
        <p:nvCxnSpPr>
          <p:cNvPr name="Connector 12" id="12"/>
          <p:cNvCxnSpPr/>
          <p:nvPr/>
        </p:nvCxnSpPr>
        <p:spPr>
          <a:xfrm rot="5373556" flipH="false" flipV="false">
            <a:off x="8572500" y="34861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AF2F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9779000" y="25400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779000" y="3302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出错别慌</a:t>
            </a: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Git 有后悔药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EAF2F8"/>
                </a:solidFill>
                <a:latin typeface="Noto Sans SC"/>
                <a:ea typeface="Noto Sans SC"/>
                <a:cs typeface="Noto Sans SC"/>
                <a:sym typeface="Noto Sans SC"/>
              </a:rPr>
              <a:t>搜报错就行</a:t>
            </a:r>
          </a:p>
        </p:txBody>
      </p:sp>
      <p:cxnSp>
        <p:nvCxnSpPr>
          <p:cNvPr name="Connector 15" id="15"/>
          <p:cNvCxnSpPr/>
          <p:nvPr/>
        </p:nvCxnSpPr>
        <p:spPr>
          <a:xfrm rot="-4297" flipH="false" flipV="false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EA5A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1016000" y="546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现在就去注册一个 GitHub 账号，建你的第一个仓库吧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800">
                <a:solidFill>
                  <a:srgbClr val="0EA5A7"/>
                </a:solidFill>
                <a:latin typeface="Noto Sans SC"/>
                <a:ea typeface="Noto Sans SC"/>
                <a:cs typeface="Noto Sans SC"/>
                <a:sym typeface="Noto Sans SC"/>
              </a:rPr>
              <a:t>你的开源之旅，从今天开始。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{"Label":"1","ContentProducer":"001191110102MACQD9K64010000","ProduceID":"7696001617228975300","ReservedCode1":"","ContentPropagator":"","PropagateID":"","ReservedCode2":""}</vt:lpwstr>
  </property>
</Properties>
</file>